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3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10">
          <p15:clr>
            <a:srgbClr val="000000"/>
          </p15:clr>
        </p15:guide>
        <p15:guide id="2" pos="3827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gYQIGJk7wOC9TGGs8a/GlvgIJf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10" y="84"/>
      </p:cViewPr>
      <p:guideLst>
        <p:guide orient="horz" pos="2210"/>
        <p:guide pos="38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26" Type="http://schemas.openxmlformats.org/officeDocument/2006/relationships/slide" Target="slides/slide24.xml" /><Relationship Id="rId39" Type="http://schemas.openxmlformats.org/officeDocument/2006/relationships/presProps" Target="presProps.xml" /><Relationship Id="rId3" Type="http://schemas.openxmlformats.org/officeDocument/2006/relationships/slide" Target="slides/slide1.xml" /><Relationship Id="rId21" Type="http://schemas.openxmlformats.org/officeDocument/2006/relationships/slide" Target="slides/slide19.xml" /><Relationship Id="rId34" Type="http://schemas.openxmlformats.org/officeDocument/2006/relationships/notesMaster" Target="notesMasters/notesMaster1.xml" /><Relationship Id="rId42" Type="http://schemas.openxmlformats.org/officeDocument/2006/relationships/tableStyles" Target="tableStyles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5" Type="http://schemas.openxmlformats.org/officeDocument/2006/relationships/slide" Target="slides/slide23.xml" /><Relationship Id="rId33" Type="http://schemas.openxmlformats.org/officeDocument/2006/relationships/slide" Target="slides/slide31.xml" /><Relationship Id="rId38" Type="http://customschemas.google.com/relationships/presentationmetadata" Target="metadata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slide" Target="slides/slide18.xml" /><Relationship Id="rId29" Type="http://schemas.openxmlformats.org/officeDocument/2006/relationships/slide" Target="slides/slide27.xml" /><Relationship Id="rId41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slide" Target="slides/slide22.xml" /><Relationship Id="rId32" Type="http://schemas.openxmlformats.org/officeDocument/2006/relationships/slide" Target="slides/slide30.xml" /><Relationship Id="rId40" Type="http://schemas.openxmlformats.org/officeDocument/2006/relationships/viewProps" Target="viewProps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slide" Target="slides/slide21.xml" /><Relationship Id="rId28" Type="http://schemas.openxmlformats.org/officeDocument/2006/relationships/slide" Target="slides/slide26.xml" /><Relationship Id="rId10" Type="http://schemas.openxmlformats.org/officeDocument/2006/relationships/slide" Target="slides/slide8.xml" /><Relationship Id="rId19" Type="http://schemas.openxmlformats.org/officeDocument/2006/relationships/slide" Target="slides/slide17.xml" /><Relationship Id="rId31" Type="http://schemas.openxmlformats.org/officeDocument/2006/relationships/slide" Target="slides/slide29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slide" Target="slides/slide20.xml" /><Relationship Id="rId27" Type="http://schemas.openxmlformats.org/officeDocument/2006/relationships/slide" Target="slides/slide25.xml" /><Relationship Id="rId30" Type="http://schemas.openxmlformats.org/officeDocument/2006/relationships/slide" Target="slides/slide28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59" name="Google Shape;25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5" name="Google Shape;425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3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9" name="Google Shape;99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4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5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5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6" name="Google Shape;126;p5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2" name="Google Shape;142;p5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3" name="Google Shape;143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5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5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0" name="Google Shape;150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5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5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 /><Relationship Id="rId3" Type="http://schemas.openxmlformats.org/officeDocument/2006/relationships/slideLayout" Target="../slideLayouts/slideLayout15.xml" /><Relationship Id="rId7" Type="http://schemas.openxmlformats.org/officeDocument/2006/relationships/slideLayout" Target="../slideLayouts/slideLayout19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4.xml" /><Relationship Id="rId1" Type="http://schemas.openxmlformats.org/officeDocument/2006/relationships/slideLayout" Target="../slideLayouts/slideLayout13.xml" /><Relationship Id="rId6" Type="http://schemas.openxmlformats.org/officeDocument/2006/relationships/slideLayout" Target="../slideLayouts/slideLayout18.xml" /><Relationship Id="rId11" Type="http://schemas.openxmlformats.org/officeDocument/2006/relationships/slideLayout" Target="../slideLayouts/slideLayout23.xml" /><Relationship Id="rId5" Type="http://schemas.openxmlformats.org/officeDocument/2006/relationships/slideLayout" Target="../slideLayouts/slideLayout17.xml" /><Relationship Id="rId10" Type="http://schemas.openxmlformats.org/officeDocument/2006/relationships/slideLayout" Target="../slideLayouts/slideLayout22.xml" /><Relationship Id="rId4" Type="http://schemas.openxmlformats.org/officeDocument/2006/relationships/slideLayout" Target="../slideLayouts/slideLayout16.xml" /><Relationship Id="rId9" Type="http://schemas.openxmlformats.org/officeDocument/2006/relationships/slideLayout" Target="../slideLayouts/slideLayout2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" name="Google Shape;92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4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qFmCtqScSvURrNuDTTwBainvDVRYZOF7T5uUFOkZCvs/edit?usp=sharing" TargetMode="External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.pn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4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3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3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3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3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3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4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4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4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4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4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4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4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3.xml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 /><Relationship Id="rId3" Type="http://schemas.openxmlformats.org/officeDocument/2006/relationships/image" Target="../media/image8.jpg" /><Relationship Id="rId7" Type="http://schemas.openxmlformats.org/officeDocument/2006/relationships/image" Target="../media/image12.jpg" /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11.jpg" /><Relationship Id="rId5" Type="http://schemas.openxmlformats.org/officeDocument/2006/relationships/image" Target="../media/image10.jpg" /><Relationship Id="rId4" Type="http://schemas.openxmlformats.org/officeDocument/2006/relationships/image" Target="../media/image9.jpg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3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"/>
          <p:cNvSpPr txBox="1">
            <a:spLocks noGrp="1"/>
          </p:cNvSpPr>
          <p:nvPr>
            <p:ph type="subTitle" idx="1"/>
          </p:nvPr>
        </p:nvSpPr>
        <p:spPr>
          <a:xfrm>
            <a:off x="413483" y="2406114"/>
            <a:ext cx="11470640" cy="52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AND MACHINE LEARNING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2287613" y="3705210"/>
            <a:ext cx="7343600" cy="55665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endParaRPr sz="3200" b="1" i="0" u="sng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9077566" y="5853446"/>
            <a:ext cx="2806557" cy="41908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830" marR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None/>
            </a:pP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6657975" y="4561584"/>
            <a:ext cx="4454525" cy="170972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83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None/>
            </a:pPr>
            <a:r>
              <a:rPr lang="en-US" sz="1600" b="1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 :</a:t>
            </a:r>
            <a:endParaRPr/>
          </a:p>
          <a:p>
            <a:pPr marL="3683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R. ROSHAN JOSHUA M.E.,(Ph.D.)</a:t>
            </a:r>
            <a:endParaRPr/>
          </a:p>
          <a:p>
            <a:pPr marL="3683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 (SS / Department of AI&amp;DS )</a:t>
            </a:r>
            <a:endParaRPr sz="1600" b="0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2067303" y="3227601"/>
            <a:ext cx="81630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AGB1303 – AI PROBLEM SOLVING TECHNIQUES</a:t>
            </a:r>
            <a:endParaRPr/>
          </a:p>
        </p:txBody>
      </p:sp>
      <p:sp>
        <p:nvSpPr>
          <p:cNvPr id="174" name="Google Shape;174;p1"/>
          <p:cNvSpPr txBox="1"/>
          <p:nvPr/>
        </p:nvSpPr>
        <p:spPr>
          <a:xfrm>
            <a:off x="2424200" y="3723113"/>
            <a:ext cx="7343600" cy="453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- 09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" name="Google Shape;175;p1" title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500" y="359484"/>
            <a:ext cx="10033000" cy="186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77" name="Google Shape;177;p1"/>
          <p:cNvSpPr/>
          <p:nvPr/>
        </p:nvSpPr>
        <p:spPr>
          <a:xfrm>
            <a:off x="1079500" y="4461601"/>
            <a:ext cx="6096000" cy="189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:</a:t>
            </a:r>
            <a:endParaRPr/>
          </a:p>
          <a:p>
            <a:pPr marL="0" marR="0" lvl="6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2303811714822041 - SAMEEHA J</a:t>
            </a:r>
            <a:endParaRPr/>
          </a:p>
          <a:p>
            <a:pPr marL="0" marR="0" lvl="6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2303811714821049 - SUDHARSON S R</a:t>
            </a:r>
            <a:endParaRPr/>
          </a:p>
          <a:p>
            <a:pPr marL="0" marR="0" lvl="6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2303811714822054 - VETHAABINAYA S</a:t>
            </a:r>
            <a:endParaRPr/>
          </a:p>
          <a:p>
            <a:pPr marL="0" marR="0" lvl="6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2303811714821058 - VIMAL AANANTH B R</a:t>
            </a:r>
            <a:endParaRPr/>
          </a:p>
        </p:txBody>
      </p:sp>
      <p:sp>
        <p:nvSpPr>
          <p:cNvPr id="178" name="Google Shape;17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"/>
          <p:cNvSpPr txBox="1"/>
          <p:nvPr/>
        </p:nvSpPr>
        <p:spPr>
          <a:xfrm>
            <a:off x="904240" y="991813"/>
            <a:ext cx="10134488" cy="9705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TITLE</a:t>
            </a:r>
            <a:endParaRPr sz="440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"/>
          <p:cNvSpPr txBox="1">
            <a:spLocks noGrp="1"/>
          </p:cNvSpPr>
          <p:nvPr>
            <p:ph type="sldNum" idx="12"/>
          </p:nvPr>
        </p:nvSpPr>
        <p:spPr>
          <a:xfrm>
            <a:off x="8668732" y="6356350"/>
            <a:ext cx="2685068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"/>
          <p:cNvSpPr txBox="1"/>
          <p:nvPr/>
        </p:nvSpPr>
        <p:spPr>
          <a:xfrm>
            <a:off x="314633" y="1209137"/>
            <a:ext cx="11323534" cy="41718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Medical Diagnosis Assistant Using Hybrid 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Rule-Based and Case-Based Reasoning</a:t>
            </a:r>
            <a:endParaRPr sz="32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"/>
          <p:cNvSpPr txBox="1">
            <a:spLocks noGrp="1"/>
          </p:cNvSpPr>
          <p:nvPr>
            <p:ph type="title"/>
          </p:nvPr>
        </p:nvSpPr>
        <p:spPr>
          <a:xfrm>
            <a:off x="1093635" y="240112"/>
            <a:ext cx="100047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RESEARCH OBJECTIVE</a:t>
            </a:r>
            <a:endParaRPr/>
          </a:p>
        </p:txBody>
      </p:sp>
      <p:sp>
        <p:nvSpPr>
          <p:cNvPr id="192" name="Google Shape;19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1093635" y="1565812"/>
            <a:ext cx="10004730" cy="4362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unified medical diagnosis system that integrates rule-based reasoning (expert rules), case-based reasoning (historical patient cases), and probabilistic inference using Naïve Bayes to deliver accurate, reliable, and explainable disease predictions.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1010653" y="453546"/>
            <a:ext cx="1012407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QUESTIONS</a:t>
            </a: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1057276" y="1482569"/>
            <a:ext cx="10077448" cy="3892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Rule-Based Reasoning and Case-Based Reasoning be effectively combined for medical diagnosis?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level of diagnostic accuracy can be achieved using a hybrid RBR - CBR system with Naïve Bayes inference?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the hybrid approach handle overlapping symptoms while maintaining interpretability and reliability?</a:t>
            </a:r>
            <a:endParaRPr/>
          </a:p>
        </p:txBody>
      </p:sp>
      <p:sp>
        <p:nvSpPr>
          <p:cNvPr id="202" name="Google Shape;20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"/>
          <p:cNvSpPr txBox="1">
            <a:spLocks noGrp="1"/>
          </p:cNvSpPr>
          <p:nvPr>
            <p:ph type="title"/>
          </p:nvPr>
        </p:nvSpPr>
        <p:spPr>
          <a:xfrm>
            <a:off x="1066800" y="370399"/>
            <a:ext cx="10077450" cy="114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SYNTHESIS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1066800" y="1805735"/>
            <a:ext cx="10077450" cy="324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diagnosis assistant using artificial intelligence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Integrates rule-based and case-based reasoning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probability to manage diagnostic uncertainty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Naïve Bayes to combine results and handle uncertainty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accuracy over traditional systems</a:t>
            </a:r>
            <a:endParaRPr/>
          </a:p>
        </p:txBody>
      </p:sp>
      <p:sp>
        <p:nvSpPr>
          <p:cNvPr id="211" name="Google Shape;21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"/>
          <p:cNvSpPr txBox="1">
            <a:spLocks noGrp="1"/>
          </p:cNvSpPr>
          <p:nvPr>
            <p:ph type="title"/>
          </p:nvPr>
        </p:nvSpPr>
        <p:spPr>
          <a:xfrm>
            <a:off x="1057274" y="370400"/>
            <a:ext cx="10077451" cy="104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SUMMARIZE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19" name="Google Shape;219;p6"/>
          <p:cNvSpPr txBox="1"/>
          <p:nvPr/>
        </p:nvSpPr>
        <p:spPr>
          <a:xfrm>
            <a:off x="708425" y="1603800"/>
            <a:ext cx="10675800" cy="47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1047750" y="1200150"/>
            <a:ext cx="10086975" cy="47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provides both accuracy and interpretability in AI-based medical diagnosis. Existing approaches often rely only on rule-based logic, which lacks flexibility, or purely data-driven methods, which reduce explainability. By combining rule-based reasoning, case-based reasoning, and probabilistic inference using Naïve Bayes, the system delivers reliable disease prediction while clearly explaining how each diagnosis is made.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 txBox="1">
            <a:spLocks noGrp="1"/>
          </p:cNvSpPr>
          <p:nvPr>
            <p:ph type="title"/>
          </p:nvPr>
        </p:nvSpPr>
        <p:spPr>
          <a:xfrm>
            <a:off x="1066800" y="265825"/>
            <a:ext cx="10058400" cy="80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FRAMEWORK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1066800" y="1095750"/>
            <a:ext cx="10058400" cy="52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(Problem) :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Doctors face difficulty in diagnosis due to overlapping symptoms.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(Intervention) :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AI system using rule-based, case-based reasoning, and Naïve Bayes.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(Comparison) :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single-method or black-box diagnostic systems.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(Outcome) :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and explainable diagnosis support for doctors.</a:t>
            </a:r>
            <a:endParaRPr/>
          </a:p>
        </p:txBody>
      </p:sp>
      <p:sp>
        <p:nvSpPr>
          <p:cNvPr id="230" name="Google Shape;23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1085848" y="1038397"/>
            <a:ext cx="10086975" cy="5185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proposes an AI-based medical diagnosis assistant using a hybrid reasoning architecture. Patient symptoms are analyzed using RBR and matched with historical cases through CBR. A Naïve Bayes inference layer combines both outputs to handle uncertainty and improve diagnostic accuracy. The system provides explainable disease predictions to support doctors in clinical decision-making. The proposed approach achieves reliable and accurate diagnosis while maintaining transparency and adaptability.</a:t>
            </a:r>
            <a:endParaRPr/>
          </a:p>
        </p:txBody>
      </p:sp>
      <p:sp>
        <p:nvSpPr>
          <p:cNvPr id="237" name="Google Shape;237;p8"/>
          <p:cNvSpPr txBox="1"/>
          <p:nvPr/>
        </p:nvSpPr>
        <p:spPr>
          <a:xfrm>
            <a:off x="1085848" y="202740"/>
            <a:ext cx="1008697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/>
          </a:p>
        </p:txBody>
      </p:sp>
      <p:sp>
        <p:nvSpPr>
          <p:cNvPr id="238" name="Google Shape;23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1085848" y="1063317"/>
            <a:ext cx="10020304" cy="5185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diagnosis is often performed manually or using single-method AI systems.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systems rely only on predefined rules or historical data, limiting flexibility and explainability.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Demerits:</a:t>
            </a:r>
            <a:b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Rigid rule-based logic</a:t>
            </a:r>
            <a:b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Poor handling of overlapping symptoms</a:t>
            </a:r>
            <a:b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Limited explanation of diagnosis results</a:t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1085848" y="186366"/>
            <a:ext cx="10020304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EXSISTING SYSTEM</a:t>
            </a:r>
            <a:endParaRPr/>
          </a:p>
        </p:txBody>
      </p:sp>
      <p:sp>
        <p:nvSpPr>
          <p:cNvPr id="246" name="Google Shape;24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 txBox="1"/>
          <p:nvPr/>
        </p:nvSpPr>
        <p:spPr>
          <a:xfrm>
            <a:off x="1066800" y="349609"/>
            <a:ext cx="10058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0"/>
          <p:cNvSpPr txBox="1"/>
          <p:nvPr/>
        </p:nvSpPr>
        <p:spPr>
          <a:xfrm>
            <a:off x="1066798" y="1675513"/>
            <a:ext cx="10058399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1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sng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Literature Survey Sheet Link</a:t>
            </a:r>
            <a:endParaRPr sz="2800" b="0" i="0" u="sng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54" name="Google Shape;25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3062883"/>
            <a:ext cx="10058399" cy="280987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"/>
          <p:cNvSpPr txBox="1"/>
          <p:nvPr/>
        </p:nvSpPr>
        <p:spPr>
          <a:xfrm>
            <a:off x="1079500" y="266700"/>
            <a:ext cx="100584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1079500" y="1201990"/>
            <a:ext cx="10058400" cy="5185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symptoms are analyzed using a hybrid AI diagnosis framework.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Rule-Based Reasoning, Case-Based Reasoning, and Naïve Bayes inference to improve accuracy.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Merits:</a:t>
            </a:r>
            <a:b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Accurate and reliable diagnosis</a:t>
            </a:r>
            <a:b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Explainable clinical decision support</a:t>
            </a:r>
            <a:b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Effective handling of overlapping symptoms</a:t>
            </a:r>
            <a:endParaRPr/>
          </a:p>
        </p:txBody>
      </p:sp>
      <p:sp>
        <p:nvSpPr>
          <p:cNvPr id="264" name="Google Shape;26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 txBox="1">
            <a:spLocks noGrp="1"/>
          </p:cNvSpPr>
          <p:nvPr>
            <p:ph type="title"/>
          </p:nvPr>
        </p:nvSpPr>
        <p:spPr>
          <a:xfrm>
            <a:off x="1041401" y="205885"/>
            <a:ext cx="10083556" cy="1038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SYSTEM SPECIFICATION</a:t>
            </a:r>
            <a:endParaRPr/>
          </a:p>
        </p:txBody>
      </p:sp>
      <p:sp>
        <p:nvSpPr>
          <p:cNvPr id="270" name="Google Shape;27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1054222" y="1315720"/>
            <a:ext cx="10083556" cy="453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HARDWARE SPECIFICATIONS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Processor : Intel Core i5 / AMD Ryzen 7 with Minimum 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4 cores @ 2.5 GHz 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RAM : 8 GB DDR4 (16 GB recommended)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Storage : 256 GB SSD (512 GB recommended) 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Graphics : Integrated GPU or NVIDIA GTX 1650 (4 GB)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Network : Standard Wi-Fi / Ethernet Connectivity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title"/>
          </p:nvPr>
        </p:nvSpPr>
        <p:spPr>
          <a:xfrm>
            <a:off x="1087120" y="446405"/>
            <a:ext cx="10099040" cy="742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SOFTWARE SPECIFICATIONS</a:t>
            </a:r>
            <a:endParaRPr/>
          </a:p>
        </p:txBody>
      </p:sp>
      <p:sp>
        <p:nvSpPr>
          <p:cNvPr id="278" name="Google Shape;278;p13"/>
          <p:cNvSpPr txBox="1">
            <a:spLocks noGrp="1"/>
          </p:cNvSpPr>
          <p:nvPr>
            <p:ph type="body" idx="1"/>
          </p:nvPr>
        </p:nvSpPr>
        <p:spPr>
          <a:xfrm>
            <a:off x="838200" y="1107440"/>
            <a:ext cx="10515600" cy="506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1430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• Operating System : Windows 10/11 Pro (64-bit) </a:t>
            </a:r>
            <a:endParaRPr/>
          </a:p>
          <a:p>
            <a:pPr marL="11430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• Programming Language : Python 3.9+ with libraries: scikit-learn </a:t>
            </a:r>
            <a:endParaRPr/>
          </a:p>
          <a:p>
            <a:pPr marL="11430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(Naive Bayes), NumPy, Pandas, SciPy </a:t>
            </a:r>
            <a:endParaRPr/>
          </a:p>
          <a:p>
            <a:pPr marL="11430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• Rule Engine : Custom Python-based Rule Engine (IF–THEN rules)</a:t>
            </a:r>
            <a:endParaRPr/>
          </a:p>
          <a:p>
            <a:pPr marL="11430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• Database : CSV / JSON based storage for rule base &amp; case library </a:t>
            </a:r>
            <a:endParaRPr/>
          </a:p>
          <a:p>
            <a:pPr marL="11430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  (Optionally SQLite / MongoDB for structured storage) </a:t>
            </a:r>
            <a:endParaRPr/>
          </a:p>
          <a:p>
            <a:pPr marL="11430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• GUI Framework : Tkinter / Web-based UI (Flask optional)</a:t>
            </a:r>
            <a:endParaRPr/>
          </a:p>
          <a:p>
            <a:pPr marL="11430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• Development Tools : Jupyter Notebook, VS Code / PyCharm, Git.</a:t>
            </a:r>
            <a:endParaRPr/>
          </a:p>
        </p:txBody>
      </p:sp>
      <p:sp>
        <p:nvSpPr>
          <p:cNvPr id="279" name="Google Shape;2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80" name="Google Shape;28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>
            <a:spLocks noGrp="1"/>
          </p:cNvSpPr>
          <p:nvPr>
            <p:ph type="title"/>
          </p:nvPr>
        </p:nvSpPr>
        <p:spPr>
          <a:xfrm>
            <a:off x="1079500" y="188912"/>
            <a:ext cx="10033000" cy="108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SYSTEM ARCHITECHTURE</a:t>
            </a:r>
            <a:endParaRPr/>
          </a:p>
        </p:txBody>
      </p:sp>
      <p:sp>
        <p:nvSpPr>
          <p:cNvPr id="286" name="Google Shape;28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87" name="Google Shape;28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5700" y="1527130"/>
            <a:ext cx="7340600" cy="4055427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4"/>
          <p:cNvSpPr txBox="1"/>
          <p:nvPr/>
        </p:nvSpPr>
        <p:spPr>
          <a:xfrm>
            <a:off x="3048000" y="5838100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No. – 01 – System Architecture Diagram</a:t>
            </a: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>
            <a:spLocks noGrp="1"/>
          </p:cNvSpPr>
          <p:nvPr>
            <p:ph type="title"/>
          </p:nvPr>
        </p:nvSpPr>
        <p:spPr>
          <a:xfrm>
            <a:off x="1066800" y="365125"/>
            <a:ext cx="10071100" cy="95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RESEARCH METHODOLOGY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97" name="Google Shape;297;p15"/>
          <p:cNvSpPr txBox="1"/>
          <p:nvPr/>
        </p:nvSpPr>
        <p:spPr>
          <a:xfrm>
            <a:off x="1066800" y="1716731"/>
            <a:ext cx="10071100" cy="4243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 based reasoning 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based reasoning  </a:t>
            </a:r>
            <a:endParaRPr/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Naïve bayes probabilistic method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reasoning integration 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"/>
          <p:cNvSpPr txBox="1">
            <a:spLocks noGrp="1"/>
          </p:cNvSpPr>
          <p:nvPr>
            <p:ph type="title"/>
          </p:nvPr>
        </p:nvSpPr>
        <p:spPr>
          <a:xfrm>
            <a:off x="1010920" y="158216"/>
            <a:ext cx="10071100" cy="992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1109980" y="1121455"/>
            <a:ext cx="10071100" cy="66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RULE-BASED REASONING (RBR)</a:t>
            </a:r>
            <a:endParaRPr/>
          </a:p>
        </p:txBody>
      </p:sp>
      <p:sp>
        <p:nvSpPr>
          <p:cNvPr id="307" name="Google Shape;307;p16"/>
          <p:cNvSpPr txBox="1"/>
          <p:nvPr/>
        </p:nvSpPr>
        <p:spPr>
          <a:xfrm>
            <a:off x="1010920" y="1817159"/>
            <a:ext cx="10071100" cy="453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expert IF–THEN medical rules to quickly detect common disease patterns.</a:t>
            </a:r>
            <a:endParaRPr/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Applies forward chaining to match user symptoms with relevant diagnostic rules.</a:t>
            </a:r>
            <a:endParaRPr/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high transparency by clearly showing which rule triggered the diagnosis. Offers a fast, reliable baseline but may struggle with ambiguous or incomplete data.</a:t>
            </a:r>
            <a:endParaRPr/>
          </a:p>
        </p:txBody>
      </p:sp>
      <p:sp>
        <p:nvSpPr>
          <p:cNvPr id="308" name="Google Shape;30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14" name="Google Shape;314;p17"/>
          <p:cNvSpPr/>
          <p:nvPr/>
        </p:nvSpPr>
        <p:spPr>
          <a:xfrm>
            <a:off x="1046480" y="539644"/>
            <a:ext cx="10099040" cy="130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CASE-BASED REASONING (CBR)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1046480" y="969892"/>
            <a:ext cx="10099040" cy="4816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77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Matches a new patient’s symptoms with similar past cases from a case library.</a:t>
            </a:r>
            <a:endParaRPr/>
          </a:p>
          <a:p>
            <a:pPr marL="0" marR="0" lvl="0" indent="-177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feature vectors and similarity checks to find the closest historical cases.</a:t>
            </a:r>
            <a:endParaRPr/>
          </a:p>
          <a:p>
            <a:pPr marL="0" marR="0" lvl="0" indent="-177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Helps diagnose confusing or overlapping symptoms by learning from real examples.</a:t>
            </a:r>
            <a:endParaRPr/>
          </a:p>
          <a:p>
            <a:pPr marL="0" marR="0" lvl="0" indent="-177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Improves accuracy over time as more cases are collected and added.</a:t>
            </a:r>
            <a:endParaRPr/>
          </a:p>
        </p:txBody>
      </p:sp>
      <p:sp>
        <p:nvSpPr>
          <p:cNvPr id="316" name="Google Shape;31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22" name="Google Shape;322;p18"/>
          <p:cNvSpPr/>
          <p:nvPr/>
        </p:nvSpPr>
        <p:spPr>
          <a:xfrm>
            <a:off x="1066800" y="660795"/>
            <a:ext cx="10078720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NAÏVE BAYES PROBABILISTIC MODEL </a:t>
            </a:r>
            <a:endParaRPr sz="2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Calculates how likely each disease is based on the given symptoms.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 simple assumption that each symptom contributes independently.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well even when symptoms are missing or unclear.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Gives a list of diseases ranked by their probability for better decision-making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23" name="Google Shape;323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1047750" y="377467"/>
            <a:ext cx="10096500" cy="130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HYBRID REASONING INTEGRATION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1047750" y="794492"/>
            <a:ext cx="10096500" cy="5462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Combines RBR, CBR, and Naïve Bayes to give a stronger and more accurate final diagnosis.</a:t>
            </a:r>
            <a:endParaRPr/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expert rules, past patient cases, and probability scores together for better decision-making.</a:t>
            </a:r>
            <a:endParaRPr/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Resolves conflicts between methods so no single approach misleads the diagnosis.</a:t>
            </a:r>
            <a:endParaRPr/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Improves overall accuracy, consistency, and confidence compared to using any one method alone.</a:t>
            </a:r>
            <a:endParaRPr/>
          </a:p>
        </p:txBody>
      </p:sp>
      <p:sp>
        <p:nvSpPr>
          <p:cNvPr id="331" name="Google Shape;33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1066800" y="382524"/>
            <a:ext cx="100584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DATAFLOW DIAGRAM</a:t>
            </a:r>
            <a:endParaRPr/>
          </a:p>
        </p:txBody>
      </p:sp>
      <p:pic>
        <p:nvPicPr>
          <p:cNvPr id="338" name="Google Shape;33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1341157"/>
            <a:ext cx="9613900" cy="482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45" name="Google Shape;345;p21"/>
          <p:cNvSpPr/>
          <p:nvPr/>
        </p:nvSpPr>
        <p:spPr>
          <a:xfrm>
            <a:off x="1066800" y="382524"/>
            <a:ext cx="100584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/>
          </a:p>
        </p:txBody>
      </p:sp>
      <p:sp>
        <p:nvSpPr>
          <p:cNvPr id="346" name="Google Shape;346;p21"/>
          <p:cNvSpPr txBox="1"/>
          <p:nvPr/>
        </p:nvSpPr>
        <p:spPr>
          <a:xfrm>
            <a:off x="1066800" y="1443841"/>
            <a:ext cx="10058400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Symptom Processing Module </a:t>
            </a:r>
            <a:endParaRPr/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Logic Evaluation Module </a:t>
            </a:r>
            <a:endParaRPr/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Clinical Case Matching Module </a:t>
            </a:r>
            <a:endParaRPr/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Probabilistic Assessment Module </a:t>
            </a:r>
            <a:endParaRPr/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Decision Synthesis Module</a:t>
            </a:r>
            <a:endParaRPr/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Diagnosis Reporting Module</a:t>
            </a:r>
            <a:endParaRPr/>
          </a:p>
        </p:txBody>
      </p:sp>
      <p:sp>
        <p:nvSpPr>
          <p:cNvPr id="347" name="Google Shape;3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53" name="Google Shape;353;p22"/>
          <p:cNvSpPr/>
          <p:nvPr/>
        </p:nvSpPr>
        <p:spPr>
          <a:xfrm>
            <a:off x="950288" y="315433"/>
            <a:ext cx="10291424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1: </a:t>
            </a:r>
            <a:r>
              <a:rPr lang="en-US" sz="3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SYMPTOM PROCESSING MODULE</a:t>
            </a:r>
            <a:endParaRPr sz="35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0" y="-2816147"/>
            <a:ext cx="264816" cy="563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1056968" y="687118"/>
            <a:ext cx="10078720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Cleans and standardizes symptoms so the system receives consistent and usable inputs.</a:t>
            </a:r>
            <a:endParaRPr/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Fixes spelling differences, formatting issues, and normalizes all symptom names.</a:t>
            </a:r>
            <a:endParaRPr/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Handles missing or unclear symptoms by asking for clarification or using safe defaults.</a:t>
            </a:r>
            <a:endParaRPr/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Ensures high-quality symptom data, reducing errors and improving the accuracy of all reasoning modules.</a:t>
            </a:r>
            <a:endParaRPr/>
          </a:p>
        </p:txBody>
      </p:sp>
      <p:sp>
        <p:nvSpPr>
          <p:cNvPr id="356" name="Google Shape;35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62" name="Google Shape;362;p23"/>
          <p:cNvSpPr/>
          <p:nvPr/>
        </p:nvSpPr>
        <p:spPr>
          <a:xfrm>
            <a:off x="269240" y="411160"/>
            <a:ext cx="11653520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2: </a:t>
            </a:r>
            <a:r>
              <a:rPr lang="en-US" sz="3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LOGIC EVALUATION  MODULE</a:t>
            </a:r>
            <a:endParaRPr sz="35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1056640" y="1170828"/>
            <a:ext cx="10078720" cy="5185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expert IF–THEN medical rules to match symptoms with diseases.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Checks symptoms using forward chaining to find rule-based diagnoses.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Clearly explains which rule triggered each diagnosis for trust and transparency.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Gives fast, reliable, and clinically aligned results as the first diagnostic layer.</a:t>
            </a:r>
            <a:endParaRPr/>
          </a:p>
        </p:txBody>
      </p:sp>
      <p:sp>
        <p:nvSpPr>
          <p:cNvPr id="364" name="Google Shape;36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70" name="Google Shape;370;p24"/>
          <p:cNvSpPr/>
          <p:nvPr/>
        </p:nvSpPr>
        <p:spPr>
          <a:xfrm>
            <a:off x="406400" y="350200"/>
            <a:ext cx="11623040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3: </a:t>
            </a:r>
            <a:r>
              <a:rPr lang="en-US" sz="3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CLINICAL CASE MATCHING MODULE</a:t>
            </a:r>
            <a:endParaRPr sz="35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1061720" y="1170828"/>
            <a:ext cx="10068560" cy="5185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Matches new patient symptoms with similar past cases from a case library.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Converts symptoms into feature vectors and calculates similarity scores.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diagnose confusing or overlapping symptoms using real patient examples.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accuracy over time as more cases are added and learned from.</a:t>
            </a:r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78" name="Google Shape;378;p25"/>
          <p:cNvSpPr/>
          <p:nvPr/>
        </p:nvSpPr>
        <p:spPr>
          <a:xfrm>
            <a:off x="345440" y="319609"/>
            <a:ext cx="11501120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4: </a:t>
            </a:r>
            <a:r>
              <a:rPr lang="en-US" sz="3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PROBABILISTIC ASSESSMENT MODULE</a:t>
            </a:r>
            <a:endParaRPr sz="35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25"/>
          <p:cNvSpPr/>
          <p:nvPr/>
        </p:nvSpPr>
        <p:spPr>
          <a:xfrm>
            <a:off x="1066800" y="1156688"/>
            <a:ext cx="10058400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Calculates how likely each disease is based on the given symptoms using probability.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prior disease rates with symptom likelihoods to compute final probabilities.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uncertainty and incomplete symptom data better than rule-based methods.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Ranks diseases by probability, adding clear confidence levels to the diagnosis.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563880" y="361747"/>
            <a:ext cx="11064240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5: </a:t>
            </a:r>
            <a:r>
              <a:rPr lang="en-US" sz="3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DECISION SYNTHESIS MODULE</a:t>
            </a:r>
            <a:endParaRPr sz="35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1061720" y="1531298"/>
            <a:ext cx="10068560" cy="4816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Combines outputs from rule-based, case-based, and probabilistic modules into one final diagnosis.</a:t>
            </a:r>
            <a:endParaRPr/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weighting or confidence scoring to balance and merge the different results.</a:t>
            </a:r>
            <a:endParaRPr/>
          </a:p>
          <a:p>
            <a:pPr marL="0" marR="0" lvl="0" indent="-177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Resolves conflicts and removes duplicate or weak suggestions from individual modules. Produces a more accurate and reliable diagnosis than any single method alone.</a:t>
            </a:r>
            <a:endParaRPr/>
          </a:p>
        </p:txBody>
      </p:sp>
      <p:sp>
        <p:nvSpPr>
          <p:cNvPr id="388" name="Google Shape;38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7"/>
          <p:cNvSpPr txBox="1">
            <a:spLocks noGrp="1"/>
          </p:cNvSpPr>
          <p:nvPr>
            <p:ph type="title"/>
          </p:nvPr>
        </p:nvSpPr>
        <p:spPr>
          <a:xfrm>
            <a:off x="866140" y="622459"/>
            <a:ext cx="10459720" cy="508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500" b="1">
                <a:latin typeface="Times New Roman"/>
                <a:ea typeface="Times New Roman"/>
                <a:cs typeface="Times New Roman"/>
                <a:sym typeface="Times New Roman"/>
              </a:rPr>
              <a:t>MODULE 6:DIAGNOSIS REPORTING MODULE</a:t>
            </a:r>
            <a:endParaRPr/>
          </a:p>
        </p:txBody>
      </p:sp>
      <p:sp>
        <p:nvSpPr>
          <p:cNvPr id="394" name="Google Shape;394;p27"/>
          <p:cNvSpPr txBox="1">
            <a:spLocks noGrp="1"/>
          </p:cNvSpPr>
          <p:nvPr>
            <p:ph type="body" idx="1"/>
          </p:nvPr>
        </p:nvSpPr>
        <p:spPr>
          <a:xfrm>
            <a:off x="1071880" y="1591945"/>
            <a:ext cx="100482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Shows the final predicted disease along with its probability score.</a:t>
            </a:r>
            <a:endParaRPr/>
          </a:p>
          <a:p>
            <a:pPr marL="4572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Displays evidence like triggered rules and similar past cases for clarity.</a:t>
            </a:r>
            <a:endParaRPr/>
          </a:p>
          <a:p>
            <a:pPr marL="4572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Provides transparent explanations to help doctors trust the diagnosis.</a:t>
            </a:r>
            <a:endParaRPr/>
          </a:p>
          <a:p>
            <a:pPr marL="4572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Offers extra insights such as confidence levels and alternative diagnoses.</a:t>
            </a:r>
            <a:endParaRPr/>
          </a:p>
        </p:txBody>
      </p:sp>
      <p:sp>
        <p:nvSpPr>
          <p:cNvPr id="395" name="Google Shape;395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396" name="Google Shape;39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"/>
          <p:cNvSpPr txBox="1">
            <a:spLocks noGrp="1"/>
          </p:cNvSpPr>
          <p:nvPr>
            <p:ph type="title"/>
          </p:nvPr>
        </p:nvSpPr>
        <p:spPr>
          <a:xfrm>
            <a:off x="1103086" y="365125"/>
            <a:ext cx="10029371" cy="1032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/>
          </a:p>
        </p:txBody>
      </p:sp>
      <p:sp>
        <p:nvSpPr>
          <p:cNvPr id="402" name="Google Shape;402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403" name="Google Shape;40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3086" y="1574359"/>
            <a:ext cx="8660039" cy="4388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31664" y="2127250"/>
            <a:ext cx="1436414" cy="130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31664" y="4158184"/>
            <a:ext cx="1436414" cy="130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8"/>
          <p:cNvSpPr txBox="1"/>
          <p:nvPr/>
        </p:nvSpPr>
        <p:spPr>
          <a:xfrm>
            <a:off x="3505200" y="6138943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No. – 02 – Implementation &amp; Datasets</a:t>
            </a: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"/>
          <p:cNvSpPr txBox="1">
            <a:spLocks noGrp="1"/>
          </p:cNvSpPr>
          <p:nvPr>
            <p:ph type="title"/>
          </p:nvPr>
        </p:nvSpPr>
        <p:spPr>
          <a:xfrm>
            <a:off x="1178229" y="176952"/>
            <a:ext cx="10029371" cy="1032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/>
          </a:p>
        </p:txBody>
      </p:sp>
      <p:sp>
        <p:nvSpPr>
          <p:cNvPr id="413" name="Google Shape;41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414" name="Google Shape;414;p29"/>
          <p:cNvSpPr txBox="1"/>
          <p:nvPr/>
        </p:nvSpPr>
        <p:spPr>
          <a:xfrm>
            <a:off x="3069771" y="5922471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No. – 03 – Model Comparison Graphs &amp; Tables</a:t>
            </a: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5" name="Google Shape;41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543" y="1383793"/>
            <a:ext cx="10072914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0765" y="3940062"/>
            <a:ext cx="2138759" cy="1733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96485" y="3957599"/>
            <a:ext cx="2101829" cy="1690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35275" y="3949589"/>
            <a:ext cx="2115280" cy="169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87516" y="3934632"/>
            <a:ext cx="2238790" cy="1733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05519" y="3949589"/>
            <a:ext cx="2173028" cy="1698517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0"/>
          <p:cNvSpPr txBox="1">
            <a:spLocks noGrp="1"/>
          </p:cNvSpPr>
          <p:nvPr>
            <p:ph type="title"/>
          </p:nvPr>
        </p:nvSpPr>
        <p:spPr>
          <a:xfrm>
            <a:off x="1052285" y="365125"/>
            <a:ext cx="10087430" cy="898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EVALUATION METRICS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30"/>
          <p:cNvSpPr txBox="1">
            <a:spLocks noGrp="1"/>
          </p:cNvSpPr>
          <p:nvPr>
            <p:ph type="sldNum" idx="12"/>
          </p:nvPr>
        </p:nvSpPr>
        <p:spPr>
          <a:xfrm>
            <a:off x="8610600" y="636618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429" name="Google Shape;429;p30"/>
          <p:cNvSpPr/>
          <p:nvPr/>
        </p:nvSpPr>
        <p:spPr>
          <a:xfrm>
            <a:off x="1052285" y="1264245"/>
            <a:ext cx="10301515" cy="5185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Measures how correctly the system predicts diseases.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Shows how many predicted diseases are actually correct.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 (Sensitivity):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Indicates how well real disease cases are detected.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 Score: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a balanced measure using precision &amp; recall.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Time: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 taken by the system to produce a diagnosis.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Explainability: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Ability to explain why a diagnosis was predicted.</a:t>
            </a:r>
            <a:endParaRPr/>
          </a:p>
        </p:txBody>
      </p:sp>
      <p:sp>
        <p:nvSpPr>
          <p:cNvPr id="430" name="Google Shape;430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1"/>
          <p:cNvSpPr txBox="1">
            <a:spLocks noGrp="1"/>
          </p:cNvSpPr>
          <p:nvPr>
            <p:ph type="title"/>
          </p:nvPr>
        </p:nvSpPr>
        <p:spPr>
          <a:xfrm>
            <a:off x="2274211" y="2943775"/>
            <a:ext cx="7643578" cy="97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437" name="Google Shape;437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17-12-2025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1470</Words>
  <Application>Microsoft Office PowerPoint</Application>
  <PresentationFormat>Widescreen</PresentationFormat>
  <Paragraphs>229</Paragraphs>
  <Slides>31</Slides>
  <Notes>31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Office Theme</vt:lpstr>
      <vt:lpstr>1_Custom Design</vt:lpstr>
      <vt:lpstr>PowerPoint Presentation</vt:lpstr>
      <vt:lpstr>PowerPoint Presentation</vt:lpstr>
      <vt:lpstr>RESEARCH OBJECTIVE</vt:lpstr>
      <vt:lpstr>PowerPoint Presentation</vt:lpstr>
      <vt:lpstr>SYNTHESIS</vt:lpstr>
      <vt:lpstr>SUMMARIZE</vt:lpstr>
      <vt:lpstr>FRAMEWORK </vt:lpstr>
      <vt:lpstr>PowerPoint Presentation</vt:lpstr>
      <vt:lpstr>PowerPoint Presentation</vt:lpstr>
      <vt:lpstr>PowerPoint Presentation</vt:lpstr>
      <vt:lpstr>PowerPoint Presentation</vt:lpstr>
      <vt:lpstr>SYSTEM SPECIFICATION</vt:lpstr>
      <vt:lpstr>SOFTWARE SPECIFICATIONS</vt:lpstr>
      <vt:lpstr>SYSTEM ARCHITECHTURE</vt:lpstr>
      <vt:lpstr>RESEARCH METHODOLOGY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 6:DIAGNOSIS REPORTING MODULE</vt:lpstr>
      <vt:lpstr>OUTPUT</vt:lpstr>
      <vt:lpstr>OUTPUT</vt:lpstr>
      <vt:lpstr>EVALUATION METRICS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</dc:creator>
  <cp:lastModifiedBy>VIMAL AANANTH BR</cp:lastModifiedBy>
  <cp:revision>2</cp:revision>
  <dcterms:created xsi:type="dcterms:W3CDTF">2025-10-23T10:22:15Z</dcterms:created>
  <dcterms:modified xsi:type="dcterms:W3CDTF">2025-12-16T13:20:44Z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A2086A1E01B14C888FDEA7C55023C306_13</vt:lpwstr>
  </property>
  <property fmtid="{D5CDD505-2E9C-101B-9397-08002B2CF9AE}" pid="3" name="KSOProductBuildVer">
    <vt:lpwstr>1033-12.2.0.22549</vt:lpwstr>
  </property>
</Properties>
</file>